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2" r:id="rId6"/>
    <p:sldId id="263" r:id="rId7"/>
    <p:sldId id="260" r:id="rId8"/>
    <p:sldId id="264" r:id="rId9"/>
    <p:sldId id="265" r:id="rId10"/>
    <p:sldId id="261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115DCEF-12CF-C744-B202-B248D2643F3A}" v="11" dt="2026-05-27T07:44:37.37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523"/>
    <p:restoredTop sz="94678"/>
  </p:normalViewPr>
  <p:slideViewPr>
    <p:cSldViewPr snapToGrid="0">
      <p:cViewPr>
        <p:scale>
          <a:sx n="106" d="100"/>
          <a:sy n="106" d="100"/>
        </p:scale>
        <p:origin x="984" y="4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havya Jain" userId="4c6abb76-ac69-4933-a23b-83489c567123" providerId="ADAL" clId="{BE9803BF-A241-51F5-8D43-0F6049E94DDC}"/>
    <pc:docChg chg="undo custSel modSld">
      <pc:chgData name="Bhavya Jain" userId="4c6abb76-ac69-4933-a23b-83489c567123" providerId="ADAL" clId="{BE9803BF-A241-51F5-8D43-0F6049E94DDC}" dt="2026-05-27T07:44:52.328" v="387" actId="113"/>
      <pc:docMkLst>
        <pc:docMk/>
      </pc:docMkLst>
      <pc:sldChg chg="modSp mod">
        <pc:chgData name="Bhavya Jain" userId="4c6abb76-ac69-4933-a23b-83489c567123" providerId="ADAL" clId="{BE9803BF-A241-51F5-8D43-0F6049E94DDC}" dt="2026-05-27T07:44:52.328" v="387" actId="113"/>
        <pc:sldMkLst>
          <pc:docMk/>
          <pc:sldMk cId="6945898" sldId="256"/>
        </pc:sldMkLst>
        <pc:spChg chg="mod">
          <ac:chgData name="Bhavya Jain" userId="4c6abb76-ac69-4933-a23b-83489c567123" providerId="ADAL" clId="{BE9803BF-A241-51F5-8D43-0F6049E94DDC}" dt="2026-05-27T07:44:52.328" v="387" actId="113"/>
          <ac:spMkLst>
            <pc:docMk/>
            <pc:sldMk cId="6945898" sldId="256"/>
            <ac:spMk id="2" creationId="{1B3BF03D-236A-C7E4-7D72-89F0E0A457D4}"/>
          </ac:spMkLst>
        </pc:spChg>
      </pc:sldChg>
      <pc:sldChg chg="modSp mod">
        <pc:chgData name="Bhavya Jain" userId="4c6abb76-ac69-4933-a23b-83489c567123" providerId="ADAL" clId="{BE9803BF-A241-51F5-8D43-0F6049E94DDC}" dt="2026-05-27T07:35:30.398" v="112" actId="1076"/>
        <pc:sldMkLst>
          <pc:docMk/>
          <pc:sldMk cId="222954952" sldId="257"/>
        </pc:sldMkLst>
        <pc:spChg chg="mod">
          <ac:chgData name="Bhavya Jain" userId="4c6abb76-ac69-4933-a23b-83489c567123" providerId="ADAL" clId="{BE9803BF-A241-51F5-8D43-0F6049E94DDC}" dt="2026-05-27T07:32:45.088" v="35" actId="113"/>
          <ac:spMkLst>
            <pc:docMk/>
            <pc:sldMk cId="222954952" sldId="257"/>
            <ac:spMk id="2" creationId="{176C34E4-C179-57F8-2512-F6A5F4622A64}"/>
          </ac:spMkLst>
        </pc:spChg>
        <pc:spChg chg="mod">
          <ac:chgData name="Bhavya Jain" userId="4c6abb76-ac69-4933-a23b-83489c567123" providerId="ADAL" clId="{BE9803BF-A241-51F5-8D43-0F6049E94DDC}" dt="2026-05-27T07:35:30.398" v="112" actId="1076"/>
          <ac:spMkLst>
            <pc:docMk/>
            <pc:sldMk cId="222954952" sldId="257"/>
            <ac:spMk id="3" creationId="{4535FEEE-06DE-B2C2-47F2-DA9CB6BC4081}"/>
          </ac:spMkLst>
        </pc:spChg>
      </pc:sldChg>
      <pc:sldChg chg="modSp mod">
        <pc:chgData name="Bhavya Jain" userId="4c6abb76-ac69-4933-a23b-83489c567123" providerId="ADAL" clId="{BE9803BF-A241-51F5-8D43-0F6049E94DDC}" dt="2026-05-27T07:32:34.217" v="33" actId="113"/>
        <pc:sldMkLst>
          <pc:docMk/>
          <pc:sldMk cId="3892752423" sldId="258"/>
        </pc:sldMkLst>
        <pc:spChg chg="mod">
          <ac:chgData name="Bhavya Jain" userId="4c6abb76-ac69-4933-a23b-83489c567123" providerId="ADAL" clId="{BE9803BF-A241-51F5-8D43-0F6049E94DDC}" dt="2026-05-27T07:32:34.217" v="33" actId="113"/>
          <ac:spMkLst>
            <pc:docMk/>
            <pc:sldMk cId="3892752423" sldId="258"/>
            <ac:spMk id="2" creationId="{91340564-D397-2C79-073C-4E6BD9C6C568}"/>
          </ac:spMkLst>
        </pc:spChg>
        <pc:spChg chg="mod">
          <ac:chgData name="Bhavya Jain" userId="4c6abb76-ac69-4933-a23b-83489c567123" providerId="ADAL" clId="{BE9803BF-A241-51F5-8D43-0F6049E94DDC}" dt="2026-05-27T07:32:19.113" v="25" actId="20577"/>
          <ac:spMkLst>
            <pc:docMk/>
            <pc:sldMk cId="3892752423" sldId="258"/>
            <ac:spMk id="3" creationId="{63DD4F98-2723-A694-BFE1-3182AAF227B9}"/>
          </ac:spMkLst>
        </pc:spChg>
      </pc:sldChg>
      <pc:sldChg chg="modSp mod">
        <pc:chgData name="Bhavya Jain" userId="4c6abb76-ac69-4933-a23b-83489c567123" providerId="ADAL" clId="{BE9803BF-A241-51F5-8D43-0F6049E94DDC}" dt="2026-05-27T07:35:08.818" v="108" actId="20577"/>
        <pc:sldMkLst>
          <pc:docMk/>
          <pc:sldMk cId="2573501124" sldId="259"/>
        </pc:sldMkLst>
        <pc:spChg chg="mod">
          <ac:chgData name="Bhavya Jain" userId="4c6abb76-ac69-4933-a23b-83489c567123" providerId="ADAL" clId="{BE9803BF-A241-51F5-8D43-0F6049E94DDC}" dt="2026-05-27T07:35:08.818" v="108" actId="20577"/>
          <ac:spMkLst>
            <pc:docMk/>
            <pc:sldMk cId="2573501124" sldId="259"/>
            <ac:spMk id="3" creationId="{0773DEBC-85EE-F22C-22EC-19DF379C1F08}"/>
          </ac:spMkLst>
        </pc:spChg>
      </pc:sldChg>
      <pc:sldChg chg="modSp mod">
        <pc:chgData name="Bhavya Jain" userId="4c6abb76-ac69-4933-a23b-83489c567123" providerId="ADAL" clId="{BE9803BF-A241-51F5-8D43-0F6049E94DDC}" dt="2026-05-27T07:39:29.644" v="247" actId="113"/>
        <pc:sldMkLst>
          <pc:docMk/>
          <pc:sldMk cId="2185708250" sldId="260"/>
        </pc:sldMkLst>
        <pc:spChg chg="mod">
          <ac:chgData name="Bhavya Jain" userId="4c6abb76-ac69-4933-a23b-83489c567123" providerId="ADAL" clId="{BE9803BF-A241-51F5-8D43-0F6049E94DDC}" dt="2026-05-27T07:39:29.644" v="247" actId="113"/>
          <ac:spMkLst>
            <pc:docMk/>
            <pc:sldMk cId="2185708250" sldId="260"/>
            <ac:spMk id="2" creationId="{FC015714-B651-6DDF-83F4-3EEDE7FFA488}"/>
          </ac:spMkLst>
        </pc:spChg>
        <pc:spChg chg="mod">
          <ac:chgData name="Bhavya Jain" userId="4c6abb76-ac69-4933-a23b-83489c567123" providerId="ADAL" clId="{BE9803BF-A241-51F5-8D43-0F6049E94DDC}" dt="2026-05-27T07:39:21.301" v="245" actId="255"/>
          <ac:spMkLst>
            <pc:docMk/>
            <pc:sldMk cId="2185708250" sldId="260"/>
            <ac:spMk id="3" creationId="{4C2A6841-254E-0359-39CD-1BC0A14BEEF1}"/>
          </ac:spMkLst>
        </pc:spChg>
      </pc:sldChg>
      <pc:sldChg chg="addSp delSp modSp mod">
        <pc:chgData name="Bhavya Jain" userId="4c6abb76-ac69-4933-a23b-83489c567123" providerId="ADAL" clId="{BE9803BF-A241-51F5-8D43-0F6049E94DDC}" dt="2026-05-27T07:44:45.702" v="386" actId="14100"/>
        <pc:sldMkLst>
          <pc:docMk/>
          <pc:sldMk cId="1201345717" sldId="261"/>
        </pc:sldMkLst>
        <pc:spChg chg="add mod">
          <ac:chgData name="Bhavya Jain" userId="4c6abb76-ac69-4933-a23b-83489c567123" providerId="ADAL" clId="{BE9803BF-A241-51F5-8D43-0F6049E94DDC}" dt="2026-05-27T07:44:37.377" v="382"/>
          <ac:spMkLst>
            <pc:docMk/>
            <pc:sldMk cId="1201345717" sldId="261"/>
            <ac:spMk id="2" creationId="{358051A3-61F4-DD95-3508-8896DAFFD491}"/>
          </ac:spMkLst>
        </pc:spChg>
        <pc:spChg chg="del mod">
          <ac:chgData name="Bhavya Jain" userId="4c6abb76-ac69-4933-a23b-83489c567123" providerId="ADAL" clId="{BE9803BF-A241-51F5-8D43-0F6049E94DDC}" dt="2026-05-27T07:44:41.108" v="384"/>
          <ac:spMkLst>
            <pc:docMk/>
            <pc:sldMk cId="1201345717" sldId="261"/>
            <ac:spMk id="7" creationId="{00000000-0000-0000-0000-000000000000}"/>
          </ac:spMkLst>
        </pc:spChg>
        <pc:graphicFrameChg chg="mod modGraphic">
          <ac:chgData name="Bhavya Jain" userId="4c6abb76-ac69-4933-a23b-83489c567123" providerId="ADAL" clId="{BE9803BF-A241-51F5-8D43-0F6049E94DDC}" dt="2026-05-27T07:44:45.702" v="386" actId="14100"/>
          <ac:graphicFrameMkLst>
            <pc:docMk/>
            <pc:sldMk cId="1201345717" sldId="261"/>
            <ac:graphicFrameMk id="6" creationId="{2398B7CD-11EA-287C-F24E-1231A35974BB}"/>
          </ac:graphicFrameMkLst>
        </pc:graphicFrameChg>
      </pc:sldChg>
      <pc:sldChg chg="modSp mod">
        <pc:chgData name="Bhavya Jain" userId="4c6abb76-ac69-4933-a23b-83489c567123" providerId="ADAL" clId="{BE9803BF-A241-51F5-8D43-0F6049E94DDC}" dt="2026-05-27T07:39:49.734" v="251" actId="113"/>
        <pc:sldMkLst>
          <pc:docMk/>
          <pc:sldMk cId="0" sldId="262"/>
        </pc:sldMkLst>
        <pc:spChg chg="mod">
          <ac:chgData name="Bhavya Jain" userId="4c6abb76-ac69-4933-a23b-83489c567123" providerId="ADAL" clId="{BE9803BF-A241-51F5-8D43-0F6049E94DDC}" dt="2026-05-27T07:39:49.734" v="251" actId="113"/>
          <ac:spMkLst>
            <pc:docMk/>
            <pc:sldMk cId="0" sldId="262"/>
            <ac:spMk id="2" creationId="{00000000-0000-0000-0000-000000000000}"/>
          </ac:spMkLst>
        </pc:spChg>
        <pc:spChg chg="mod">
          <ac:chgData name="Bhavya Jain" userId="4c6abb76-ac69-4933-a23b-83489c567123" providerId="ADAL" clId="{BE9803BF-A241-51F5-8D43-0F6049E94DDC}" dt="2026-05-27T07:34:56.619" v="104" actId="255"/>
          <ac:spMkLst>
            <pc:docMk/>
            <pc:sldMk cId="0" sldId="262"/>
            <ac:spMk id="3" creationId="{00000000-0000-0000-0000-000000000000}"/>
          </ac:spMkLst>
        </pc:spChg>
      </pc:sldChg>
      <pc:sldChg chg="modSp mod">
        <pc:chgData name="Bhavya Jain" userId="4c6abb76-ac69-4933-a23b-83489c567123" providerId="ADAL" clId="{BE9803BF-A241-51F5-8D43-0F6049E94DDC}" dt="2026-05-27T07:39:39.525" v="249" actId="113"/>
        <pc:sldMkLst>
          <pc:docMk/>
          <pc:sldMk cId="0" sldId="263"/>
        </pc:sldMkLst>
        <pc:spChg chg="mod">
          <ac:chgData name="Bhavya Jain" userId="4c6abb76-ac69-4933-a23b-83489c567123" providerId="ADAL" clId="{BE9803BF-A241-51F5-8D43-0F6049E94DDC}" dt="2026-05-27T07:39:39.525" v="249" actId="113"/>
          <ac:spMkLst>
            <pc:docMk/>
            <pc:sldMk cId="0" sldId="263"/>
            <ac:spMk id="2" creationId="{00000000-0000-0000-0000-000000000000}"/>
          </ac:spMkLst>
        </pc:spChg>
        <pc:spChg chg="mod">
          <ac:chgData name="Bhavya Jain" userId="4c6abb76-ac69-4933-a23b-83489c567123" providerId="ADAL" clId="{BE9803BF-A241-51F5-8D43-0F6049E94DDC}" dt="2026-05-27T07:37:30.473" v="176" actId="20577"/>
          <ac:spMkLst>
            <pc:docMk/>
            <pc:sldMk cId="0" sldId="263"/>
            <ac:spMk id="3" creationId="{00000000-0000-0000-0000-000000000000}"/>
          </ac:spMkLst>
        </pc:spChg>
      </pc:sldChg>
      <pc:sldChg chg="modSp mod">
        <pc:chgData name="Bhavya Jain" userId="4c6abb76-ac69-4933-a23b-83489c567123" providerId="ADAL" clId="{BE9803BF-A241-51F5-8D43-0F6049E94DDC}" dt="2026-05-27T07:41:23.884" v="290" actId="113"/>
        <pc:sldMkLst>
          <pc:docMk/>
          <pc:sldMk cId="0" sldId="264"/>
        </pc:sldMkLst>
        <pc:spChg chg="mod">
          <ac:chgData name="Bhavya Jain" userId="4c6abb76-ac69-4933-a23b-83489c567123" providerId="ADAL" clId="{BE9803BF-A241-51F5-8D43-0F6049E94DDC}" dt="2026-05-27T07:41:23.884" v="290" actId="113"/>
          <ac:spMkLst>
            <pc:docMk/>
            <pc:sldMk cId="0" sldId="264"/>
            <ac:spMk id="2" creationId="{00000000-0000-0000-0000-000000000000}"/>
          </ac:spMkLst>
        </pc:spChg>
        <pc:spChg chg="mod">
          <ac:chgData name="Bhavya Jain" userId="4c6abb76-ac69-4933-a23b-83489c567123" providerId="ADAL" clId="{BE9803BF-A241-51F5-8D43-0F6049E94DDC}" dt="2026-05-27T07:41:18.068" v="288" actId="255"/>
          <ac:spMkLst>
            <pc:docMk/>
            <pc:sldMk cId="0" sldId="264"/>
            <ac:spMk id="3" creationId="{00000000-0000-0000-0000-000000000000}"/>
          </ac:spMkLst>
        </pc:spChg>
      </pc:sldChg>
      <pc:sldChg chg="modSp mod">
        <pc:chgData name="Bhavya Jain" userId="4c6abb76-ac69-4933-a23b-83489c567123" providerId="ADAL" clId="{BE9803BF-A241-51F5-8D43-0F6049E94DDC}" dt="2026-05-27T07:43:37.581" v="358" actId="113"/>
        <pc:sldMkLst>
          <pc:docMk/>
          <pc:sldMk cId="0" sldId="265"/>
        </pc:sldMkLst>
        <pc:spChg chg="mod">
          <ac:chgData name="Bhavya Jain" userId="4c6abb76-ac69-4933-a23b-83489c567123" providerId="ADAL" clId="{BE9803BF-A241-51F5-8D43-0F6049E94DDC}" dt="2026-05-27T07:43:37.581" v="358" actId="113"/>
          <ac:spMkLst>
            <pc:docMk/>
            <pc:sldMk cId="0" sldId="265"/>
            <ac:spMk id="2" creationId="{00000000-0000-0000-0000-000000000000}"/>
          </ac:spMkLst>
        </pc:spChg>
        <pc:spChg chg="mod">
          <ac:chgData name="Bhavya Jain" userId="4c6abb76-ac69-4933-a23b-83489c567123" providerId="ADAL" clId="{BE9803BF-A241-51F5-8D43-0F6049E94DDC}" dt="2026-05-27T07:43:30.726" v="356" actId="20577"/>
          <ac:spMkLst>
            <pc:docMk/>
            <pc:sldMk cId="0" sldId="265"/>
            <ac:spMk id="3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75F164-2EE2-C3B0-3833-F344EC42D65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2528A00-C597-8CB9-9684-67F5489B380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703180-0CA1-EFC4-06FE-D29208CAB2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64864-E3EB-A54A-A40D-CEB528221741}" type="datetimeFigureOut">
              <a:rPr lang="en-US" smtClean="0"/>
              <a:t>5/27/26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4EE896-540B-A929-B1A9-8A1DA64F96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939A7C-F12A-33B1-2C08-7DCD2361AA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817979-4DBB-B64F-A9EE-38BC205481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85923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D64D49-D709-6BBC-DEE6-F6EC57E70C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22A491-57D3-4B80-AB55-0727B0667B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E9B24F-C787-2EE1-0C91-3A3D8DA2FE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64864-E3EB-A54A-A40D-CEB528221741}" type="datetimeFigureOut">
              <a:rPr lang="en-US" smtClean="0"/>
              <a:t>5/27/26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64317D-46C0-E034-9F15-63F2D88ED1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E83E83-3A9E-87A8-4BFA-7893786E97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817979-4DBB-B64F-A9EE-38BC205481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02465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A485CB-A792-98DC-4E50-A341F47CD2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8D4CDB-D242-68F1-360C-4A7D445770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057183-0E9C-C82D-1AE0-215468CB3B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64864-E3EB-A54A-A40D-CEB528221741}" type="datetimeFigureOut">
              <a:rPr lang="en-US" smtClean="0"/>
              <a:t>5/27/26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EFD5BB-92F6-DC90-FE39-E994EB6E21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1B31E8-C2ED-2F9F-FB75-DE1366D73D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817979-4DBB-B64F-A9EE-38BC205481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6780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81501A-7B64-7F2D-EC37-2CC33C7ABE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218FAE-C058-1E7A-2150-F19A3EAA996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BD9D933-A639-9D0A-3393-824F693B7B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01735DE-201D-ACFC-AD2B-E3083C212D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64864-E3EB-A54A-A40D-CEB528221741}" type="datetimeFigureOut">
              <a:rPr lang="en-US" smtClean="0"/>
              <a:t>5/27/26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EF5DAD1-9401-F2FD-84D6-C31826386C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F96F95A-564E-9407-E5EC-275E3E1A5B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817979-4DBB-B64F-A9EE-38BC205481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89517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93B29B-C0BD-A74A-F123-AE7C68FAAB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96EB9A-D5F4-5EA2-9D79-A6B6947256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C03EAFE-BFD8-96B1-651B-0E499976836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1CB1617-9D1A-6F42-0CEF-42AD31CD5D6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7B56AEB-E8E5-E635-A39B-6293CE9B6E7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E27B3B3-D75E-EE33-FD10-48D175DF7E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64864-E3EB-A54A-A40D-CEB528221741}" type="datetimeFigureOut">
              <a:rPr lang="en-US" smtClean="0"/>
              <a:t>5/27/26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3C090FF-443A-4752-B97A-1BE3A54D84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4E1D891-8D84-2F7D-448C-69CBC945FE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817979-4DBB-B64F-A9EE-38BC205481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54798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E0DCFE-E9D3-0491-61C8-56616C29A5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29000A5-653B-E740-6733-810C57420F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64864-E3EB-A54A-A40D-CEB528221741}" type="datetimeFigureOut">
              <a:rPr lang="en-US" smtClean="0"/>
              <a:t>5/27/26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FE04DC2-E7D0-05B5-CC88-7B1E585938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D9C791C-FBFB-A5E7-DAA1-837496C071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817979-4DBB-B64F-A9EE-38BC205481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48233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4DC256D-6BA7-4900-B317-CDA0D77DFB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64864-E3EB-A54A-A40D-CEB528221741}" type="datetimeFigureOut">
              <a:rPr lang="en-US" smtClean="0"/>
              <a:t>5/27/26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8ACB55F-C3E3-7ED7-2811-2E99C94503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9D1D83-E765-354D-2671-4011E5804A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817979-4DBB-B64F-A9EE-38BC205481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29831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42B2A5-450F-91AC-6FA2-8519156C57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A2A86F-0A58-BDA9-9439-E42CB2269E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E233BBC-CAF8-EC26-B12D-18DDE27F87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CA81AAF-3BB1-1255-FFED-B2D625A726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64864-E3EB-A54A-A40D-CEB528221741}" type="datetimeFigureOut">
              <a:rPr lang="en-US" smtClean="0"/>
              <a:t>5/27/26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BD7FFD4-70DA-F57F-296C-CCCA7FF70F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DF7494-ED49-D716-3962-5A30242CBB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817979-4DBB-B64F-A9EE-38BC205481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21947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1B5FEF-9AB7-E0BA-A045-E6F5B39639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A32FE31-F9A2-AC5B-A2FB-FABB99702F4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BC3E37F-E988-FA0C-9504-54529DBB928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8637FF-81DF-65C1-7533-40CA4E64BF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64864-E3EB-A54A-A40D-CEB528221741}" type="datetimeFigureOut">
              <a:rPr lang="en-US" smtClean="0"/>
              <a:t>5/27/26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188A3F-DC90-A766-7BE5-49927427F8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D727D30-7437-A0EB-8D13-0DB87BAAD6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817979-4DBB-B64F-A9EE-38BC205481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03093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5B9549-9869-DAB9-9630-0DD26DD5E4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844311-058E-805D-F042-D0CB002395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3EEBE7-A17C-1AF6-FB24-B1BF39C20D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64864-E3EB-A54A-A40D-CEB528221741}" type="datetimeFigureOut">
              <a:rPr lang="en-US" smtClean="0"/>
              <a:t>5/27/26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450E93-7143-675F-CA9B-AC8A6AAFF8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D1D078-A5DC-5ABE-1C4E-168DD9B25D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817979-4DBB-B64F-A9EE-38BC205481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85006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B1F25FD-D469-A33A-76BE-497B51B9BDF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A0D4671-E492-D2EE-03E1-EB2FD87E87E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CE8796-7880-01C6-10C7-3D0708155A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64864-E3EB-A54A-A40D-CEB528221741}" type="datetimeFigureOut">
              <a:rPr lang="en-US" smtClean="0"/>
              <a:t>5/27/26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710719-43BE-63DE-229E-E5028A13DF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6843A3-512D-8B02-5427-CB92216D66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817979-4DBB-B64F-A9EE-38BC205481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43220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11850E8-8F77-764E-4FBC-D6559413E4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6041A3-7FC5-DDA8-033F-C929AEA8DB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A33593-F243-4FD2-AA94-CB662D0DFF9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2364864-E3EB-A54A-A40D-CEB528221741}" type="datetimeFigureOut">
              <a:rPr lang="en-US" smtClean="0"/>
              <a:t>5/27/26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7CA7EF-DAF7-9FA5-7CA8-5FF40F24B0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1A0435-D1B9-2CEE-6BA6-F2321AA4CC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2817979-4DBB-B64F-A9EE-38BC205481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55819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3BF03D-236A-C7E4-7D72-89F0E0A457D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2400" b="1" dirty="0"/>
              <a:t>TAM</a:t>
            </a:r>
          </a:p>
        </p:txBody>
      </p:sp>
    </p:spTree>
    <p:extLst>
      <p:ext uri="{BB962C8B-B14F-4D97-AF65-F5344CB8AC3E}">
        <p14:creationId xmlns:p14="http://schemas.microsoft.com/office/powerpoint/2010/main" val="69458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6C34E4-C179-57F8-2512-F6A5F4622A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400" b="1" dirty="0"/>
              <a:t>WHAT THIS PROJECT 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35FEEE-06DE-B2C2-47F2-DA9CB6BC40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sz="1600" dirty="0"/>
              <a:t>EXL does back-office work for insurance companies — claims processing, underwriting paperwork, billing, customer service.</a:t>
            </a:r>
            <a:endParaRPr lang="en-US" sz="1600" dirty="0"/>
          </a:p>
          <a:p>
            <a:pPr marL="0" indent="0">
              <a:buNone/>
            </a:pPr>
            <a:endParaRPr sz="1600" dirty="0"/>
          </a:p>
          <a:p>
            <a:pPr marL="0" indent="0">
              <a:buNone/>
            </a:pPr>
            <a:r>
              <a:rPr sz="1600" dirty="0"/>
              <a:t>Their competitors are big outsourcing firms: Cognizant, Genpact, WNS, TCS.</a:t>
            </a:r>
            <a:endParaRPr lang="en-US" sz="1600" dirty="0"/>
          </a:p>
          <a:p>
            <a:pPr marL="0" indent="0">
              <a:buNone/>
            </a:pPr>
            <a:endParaRPr sz="1600" dirty="0"/>
          </a:p>
          <a:p>
            <a:pPr marL="0" indent="0">
              <a:buNone/>
            </a:pPr>
            <a:r>
              <a:rPr sz="1600" dirty="0"/>
              <a:t>We have 5 internal competitive-intelligence spreadsheets — 31 sheets, ~1,860 rows across 4 different file vintages — tracking which competitor is parked at each insurance customer, what their executives have publicly said, and where EXL has openings.</a:t>
            </a:r>
          </a:p>
          <a:p>
            <a:pPr marL="0" indent="0">
              <a:buNone/>
            </a:pPr>
            <a:endParaRPr sz="1600" dirty="0"/>
          </a:p>
          <a:p>
            <a:pPr marL="0" indent="0">
              <a:buNone/>
            </a:pPr>
            <a:r>
              <a:rPr sz="1600" dirty="0"/>
              <a:t>Mental model: imagine building competitive-intel + lead-gen for AWS's enterprise sales team. "Which AWS customers have an Azure contract expiring soon and have been making noise?" — exact same shape, but for insurance services.</a:t>
            </a:r>
          </a:p>
        </p:txBody>
      </p:sp>
    </p:spTree>
    <p:extLst>
      <p:ext uri="{BB962C8B-B14F-4D97-AF65-F5344CB8AC3E}">
        <p14:creationId xmlns:p14="http://schemas.microsoft.com/office/powerpoint/2010/main" val="2229549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340564-D397-2C79-073C-4E6BD9C6C5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 b="1" dirty="0"/>
              <a:t>WHAT A SINGLE PIECE OF INTEL LOOKED LIKE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DD4F98-2723-A694-BFE1-3182AAF227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sz="1600" dirty="0"/>
              <a:t>One row from one of the 5 source spreadsheets (F5 / Competitor Analysis / Row 8):</a:t>
            </a:r>
          </a:p>
          <a:p>
            <a:pPr marL="457200" lvl="1" indent="0">
              <a:buNone/>
            </a:pPr>
            <a:r>
              <a:rPr lang="en-US" sz="1400" dirty="0">
                <a:solidFill>
                  <a:schemeClr val="bg1">
                    <a:lumMod val="50000"/>
                  </a:schemeClr>
                </a:solidFill>
              </a:rPr>
              <a:t>    Customer:          Travelers — top-10 US insurer, $27B in annual premiums</a:t>
            </a:r>
          </a:p>
          <a:p>
            <a:pPr marL="457200" lvl="1" indent="0">
              <a:buNone/>
            </a:pPr>
            <a:r>
              <a:rPr lang="en-US" sz="1400" dirty="0">
                <a:solidFill>
                  <a:schemeClr val="bg1">
                    <a:lumMod val="50000"/>
                  </a:schemeClr>
                </a:solidFill>
              </a:rPr>
              <a:t>    Competitor:        Cognizant — large outsourcing firm (~350K employees)</a:t>
            </a:r>
          </a:p>
          <a:p>
            <a:pPr marL="457200" lvl="1" indent="0">
              <a:buNone/>
            </a:pPr>
            <a:r>
              <a:rPr lang="en-US" sz="1400" dirty="0">
                <a:solidFill>
                  <a:schemeClr val="bg1">
                    <a:lumMod val="50000"/>
                  </a:schemeClr>
                </a:solidFill>
              </a:rPr>
              <a:t>    Contract status:   Up for renewal in &lt; 6 months</a:t>
            </a:r>
          </a:p>
          <a:p>
            <a:pPr marL="457200" lvl="1" indent="0">
              <a:buNone/>
            </a:pPr>
            <a:r>
              <a:rPr lang="en-US" sz="1400" dirty="0">
                <a:solidFill>
                  <a:schemeClr val="bg1">
                    <a:lumMod val="50000"/>
                  </a:schemeClr>
                </a:solidFill>
              </a:rPr>
              <a:t>    Footprint:         450 people on claims processing for Travelers</a:t>
            </a:r>
          </a:p>
          <a:p>
            <a:pPr marL="457200" lvl="1" indent="0">
              <a:buNone/>
            </a:pPr>
            <a:r>
              <a:rPr lang="en-US" sz="1400" dirty="0">
                <a:solidFill>
                  <a:schemeClr val="bg1">
                    <a:lumMod val="50000"/>
                  </a:schemeClr>
                </a:solidFill>
              </a:rPr>
              <a:t>    Internal note:     "Champion Challenger discussions in motion. Rohit has met Mojgan."</a:t>
            </a:r>
            <a:endParaRPr dirty="0">
              <a:solidFill>
                <a:schemeClr val="bg1">
                  <a:lumMod val="50000"/>
                </a:schemeClr>
              </a:solidFill>
            </a:endParaRPr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sz="1600" dirty="0"/>
              <a:t>Translation: a household-name insurance company is about to re-bid a 450-person contract. The incumbent is in trouble. EXL has a foot in the door at the customer's CIO.</a:t>
            </a:r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sz="1600" dirty="0"/>
              <a:t>But that fact was buried alongside ~1,860 other rows across 31 sheets in 5 separate files. </a:t>
            </a:r>
            <a:endParaRPr lang="en-US" sz="1600" dirty="0"/>
          </a:p>
          <a:p>
            <a:pPr marL="0" indent="0">
              <a:buNone/>
            </a:pPr>
            <a:r>
              <a:rPr sz="1600" dirty="0"/>
              <a:t>Nothing stitches them together.</a:t>
            </a:r>
          </a:p>
        </p:txBody>
      </p:sp>
    </p:spTree>
    <p:extLst>
      <p:ext uri="{BB962C8B-B14F-4D97-AF65-F5344CB8AC3E}">
        <p14:creationId xmlns:p14="http://schemas.microsoft.com/office/powerpoint/2010/main" val="38927524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928960-CD1D-464A-E5CD-EA013D1FA0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Seven stages — plus EXL's vocabulary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73DEBC-85EE-F22C-22EC-19DF379C1F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sz="1600" dirty="0"/>
              <a:t>1. Read every cell. Audit proves every row accounted for (1,862 source rows, 0 dropped silently).</a:t>
            </a:r>
          </a:p>
          <a:p>
            <a:pPr marL="0" indent="0">
              <a:buNone/>
            </a:pPr>
            <a:r>
              <a:rPr sz="1600" dirty="0"/>
              <a:t>2. Clean duplicate names. 30+ name variants collapsed ("CTS" = "Cognizant" = "Cognizant Technology Solutions").</a:t>
            </a:r>
          </a:p>
          <a:p>
            <a:pPr marL="0" indent="0">
              <a:buNone/>
            </a:pPr>
            <a:r>
              <a:rPr sz="1600" dirty="0"/>
              <a:t>3. Build one profile per customer. 236 ranked accounts.</a:t>
            </a:r>
          </a:p>
          <a:p>
            <a:pPr marL="0" indent="0">
              <a:buNone/>
            </a:pPr>
            <a:r>
              <a:rPr sz="1600" dirty="0"/>
              <a:t>4. Detect buying signals. 14 deterministic rules. 60 firings across the corpus.</a:t>
            </a:r>
          </a:p>
          <a:p>
            <a:pPr marL="0" indent="0">
              <a:buNone/>
            </a:pPr>
            <a:r>
              <a:rPr sz="1600" dirty="0"/>
              <a:t>5. Score 0–100. Account fit + signal strength + solution match + relationship warmth.</a:t>
            </a:r>
          </a:p>
          <a:p>
            <a:pPr marL="0" indent="0">
              <a:buNone/>
            </a:pPr>
            <a:r>
              <a:rPr sz="1600" dirty="0"/>
              <a:t>6. Synthesize the brief. 20 polished one-pagers in pipeline/leads/.</a:t>
            </a:r>
          </a:p>
          <a:p>
            <a:pPr marL="0" indent="0">
              <a:buNone/>
            </a:pPr>
            <a:r>
              <a:rPr sz="1600" dirty="0"/>
              <a:t>7. Strategic heatmap. White-space map + Partnering Matrix benchmarks.</a:t>
            </a:r>
          </a:p>
          <a:p>
            <a:endParaRPr sz="1600" dirty="0"/>
          </a:p>
          <a:p>
            <a:pPr marL="0" indent="0">
              <a:buNone/>
            </a:pPr>
            <a:r>
              <a:rPr lang="en-US" sz="1600" dirty="0"/>
              <a:t>We </a:t>
            </a:r>
            <a:r>
              <a:rPr sz="1600" dirty="0"/>
              <a:t>adopted EXL's official vocabulary from the Addressable Market Tracker deck.</a:t>
            </a:r>
          </a:p>
          <a:p>
            <a:pPr marL="0" indent="0">
              <a:buNone/>
            </a:pPr>
            <a:r>
              <a:rPr sz="1600" dirty="0"/>
              <a:t>Lead briefs now name real EXL products (XTRAKTO.AI, EXELIA.AI, </a:t>
            </a:r>
            <a:r>
              <a:rPr sz="1600" dirty="0" err="1"/>
              <a:t>NerveHub</a:t>
            </a:r>
            <a:r>
              <a:rPr sz="1600" dirty="0"/>
              <a:t>, </a:t>
            </a:r>
            <a:r>
              <a:rPr sz="1600" dirty="0" err="1"/>
              <a:t>Paymentor</a:t>
            </a:r>
            <a:r>
              <a:rPr sz="1600" dirty="0"/>
              <a:t>,</a:t>
            </a:r>
            <a:r>
              <a:rPr lang="en-US" sz="1600" dirty="0"/>
              <a:t> </a:t>
            </a:r>
            <a:r>
              <a:rPr sz="1600" dirty="0" err="1"/>
              <a:t>Subrosource</a:t>
            </a:r>
            <a:r>
              <a:rPr sz="1600" dirty="0"/>
              <a:t>, </a:t>
            </a:r>
            <a:r>
              <a:rPr sz="1600" dirty="0" err="1"/>
              <a:t>MedConnection</a:t>
            </a:r>
            <a:r>
              <a:rPr sz="1600" dirty="0"/>
              <a:t>, Digital Finance Suite) with their actual outcome metrics</a:t>
            </a:r>
            <a:r>
              <a:rPr lang="en-US" sz="1600" dirty="0"/>
              <a:t> </a:t>
            </a:r>
            <a:r>
              <a:rPr sz="1600" dirty="0"/>
              <a:t>("25-30% cost-of-operations reduction", etc.) and use the 5-area P&amp;C value chain taxonomy.</a:t>
            </a:r>
          </a:p>
        </p:txBody>
      </p:sp>
    </p:spTree>
    <p:extLst>
      <p:ext uri="{BB962C8B-B14F-4D97-AF65-F5344CB8AC3E}">
        <p14:creationId xmlns:p14="http://schemas.microsoft.com/office/powerpoint/2010/main" val="25735011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400" b="1" dirty="0"/>
              <a:t>WHAT GOOD LOOKS LIKE — THE TRAVELERS BRIEF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sz="1600" dirty="0"/>
              <a:t>Score: 89.3/100   |   Confidence: Very High   |   17 triggers fired (9 unique types)</a:t>
            </a:r>
          </a:p>
          <a:p>
            <a:pPr marL="0" indent="0">
              <a:buNone/>
            </a:pPr>
            <a:endParaRPr sz="1600" dirty="0"/>
          </a:p>
          <a:p>
            <a:r>
              <a:rPr sz="1600" dirty="0"/>
              <a:t>Anchor products the lead recommends (with the outcome metrics from EXL's deck):</a:t>
            </a:r>
          </a:p>
          <a:p>
            <a:pPr marL="457200" lvl="1" indent="0">
              <a:buNone/>
            </a:pPr>
            <a:r>
              <a:rPr sz="1600" dirty="0"/>
              <a:t>    EXL XTRAKTO.AI       — Document AI                 — 25-30% cost-of-ops reduction</a:t>
            </a:r>
          </a:p>
          <a:p>
            <a:pPr marL="457200" lvl="1" indent="0">
              <a:buNone/>
            </a:pPr>
            <a:r>
              <a:rPr sz="1600" dirty="0"/>
              <a:t>    EXL EXELIA.AI        — Conversational AI            — 5-10 pt NPS lift</a:t>
            </a:r>
          </a:p>
          <a:p>
            <a:pPr marL="457200" lvl="1" indent="0">
              <a:buNone/>
            </a:pPr>
            <a:r>
              <a:rPr sz="1600" dirty="0"/>
              <a:t>    EXL </a:t>
            </a:r>
            <a:r>
              <a:rPr sz="1600" dirty="0" err="1"/>
              <a:t>NerveHub</a:t>
            </a:r>
            <a:r>
              <a:rPr sz="1600" dirty="0"/>
              <a:t>         — Workflow orchestration       — end-to-end visibility</a:t>
            </a:r>
          </a:p>
          <a:p>
            <a:pPr marL="457200" lvl="1" indent="0">
              <a:buNone/>
            </a:pPr>
            <a:r>
              <a:rPr sz="1600" dirty="0"/>
              <a:t>    EXL </a:t>
            </a:r>
            <a:r>
              <a:rPr sz="1600" dirty="0" err="1"/>
              <a:t>Paymentor</a:t>
            </a:r>
            <a:r>
              <a:rPr sz="1600" dirty="0"/>
              <a:t>        — Payment automation           — 100% leakage elimination</a:t>
            </a:r>
          </a:p>
          <a:p>
            <a:endParaRPr sz="1600" dirty="0"/>
          </a:p>
          <a:p>
            <a:r>
              <a:rPr sz="1600" dirty="0"/>
              <a:t>Pitch hook the pipeline writes automatically:</a:t>
            </a:r>
          </a:p>
          <a:p>
            <a:pPr marL="457200" lvl="1" indent="0">
              <a:buNone/>
            </a:pPr>
            <a:r>
              <a:rPr sz="1600" dirty="0"/>
              <a:t>"Sequenced displacement vehicle for Cognizant's 1000+ FTE footprint as multiple</a:t>
            </a:r>
            <a:r>
              <a:rPr lang="en-US" sz="1600" dirty="0"/>
              <a:t> </a:t>
            </a:r>
            <a:r>
              <a:rPr sz="1600" dirty="0"/>
              <a:t>concurrent scopes approach renewal. Lead with EXL XTRAKTO.AI + EXL EXELIA.AI —</a:t>
            </a:r>
            <a:r>
              <a:rPr lang="en-US" sz="1600" dirty="0"/>
              <a:t> </a:t>
            </a:r>
            <a:r>
              <a:rPr sz="1600" dirty="0"/>
              <a:t>typical outcome: 25-30% reduction in cost of operations, 30% improvement in</a:t>
            </a:r>
            <a:r>
              <a:rPr lang="en-US" sz="1600" dirty="0"/>
              <a:t> </a:t>
            </a:r>
            <a:r>
              <a:rPr sz="1600" dirty="0"/>
              <a:t>cycle time. Anchor narrative on Travelers Group's stated operating-leverage commitments, with EXL's solution mapping to their VOC already complete."</a:t>
            </a:r>
          </a:p>
          <a:p>
            <a:pPr lvl="1"/>
            <a:endParaRPr sz="1600" dirty="0"/>
          </a:p>
          <a:p>
            <a:r>
              <a:rPr sz="1600" dirty="0"/>
              <a:t>Every claim cited: F5/Competitor Analysis/R8-R12, F1/Buyer Priorities/R7-R20, F1/Top Insurers and Brokers/R12.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400" b="1" dirty="0"/>
              <a:t>THE DISCOVERY — WHERE THE REAL TAM IS HIDING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sz="1600" dirty="0"/>
              <a:t>Reading the Addressable Market Tracker deck (slides 10-11) gave us EXL's official Partnering Matrix —</a:t>
            </a:r>
            <a:r>
              <a:rPr lang="en-US" sz="1600" dirty="0"/>
              <a:t> </a:t>
            </a:r>
            <a:r>
              <a:rPr sz="1600" dirty="0"/>
              <a:t>the % of each function we typically retain when we're inside an account. Sorted by displacement headroom:</a:t>
            </a:r>
          </a:p>
          <a:p>
            <a:pPr lvl="1"/>
            <a:r>
              <a:rPr sz="1200" dirty="0"/>
              <a:t>    </a:t>
            </a:r>
            <a:r>
              <a:rPr sz="1400" dirty="0"/>
              <a:t>Claims FNOL: EXL retains 10-20%   →   85% headroom   (very high)</a:t>
            </a:r>
          </a:p>
          <a:p>
            <a:pPr lvl="1"/>
            <a:r>
              <a:rPr sz="1400" dirty="0"/>
              <a:t>    UW Risk Assessment: EXL retains 10-20%   →   85% headroom   (very high)</a:t>
            </a:r>
          </a:p>
          <a:p>
            <a:pPr lvl="1"/>
            <a:r>
              <a:rPr sz="1400" dirty="0"/>
              <a:t>    Account Set Up &amp; Clearance: EXL retains 25-35%   →   70% headroom   (very high)</a:t>
            </a:r>
          </a:p>
          <a:p>
            <a:pPr lvl="1"/>
            <a:r>
              <a:rPr sz="1400" dirty="0"/>
              <a:t>    Policy Servicing: EXL retains 30-40%   →   65% headroom   (high)</a:t>
            </a:r>
          </a:p>
          <a:p>
            <a:pPr lvl="1"/>
            <a:r>
              <a:rPr sz="1400" dirty="0"/>
              <a:t>    Subrogation: EXL retains 40-50%   →   55% headroom   (high)</a:t>
            </a:r>
          </a:p>
          <a:p>
            <a:pPr lvl="1"/>
            <a:r>
              <a:rPr sz="1400" dirty="0"/>
              <a:t>    UW Info Gathering: </a:t>
            </a:r>
            <a:r>
              <a:rPr sz="1200" dirty="0"/>
              <a:t>EXL retains 85-90%   →   12% headroom   (EXL mature)</a:t>
            </a:r>
            <a:endParaRPr sz="1600" dirty="0"/>
          </a:p>
          <a:p>
            <a:pPr marL="0" indent="0">
              <a:buNone/>
            </a:pPr>
            <a:r>
              <a:rPr sz="1600" dirty="0"/>
              <a:t>What this means for Travelers:</a:t>
            </a:r>
          </a:p>
          <a:p>
            <a:r>
              <a:rPr sz="1600" dirty="0"/>
              <a:t>    Cognizant has 1,000 FTEs at Policy Servicing.</a:t>
            </a:r>
          </a:p>
          <a:p>
            <a:r>
              <a:rPr sz="1600" dirty="0"/>
              <a:t>    EXL typically retains 35% of that function.</a:t>
            </a:r>
          </a:p>
          <a:p>
            <a:r>
              <a:rPr sz="1600" dirty="0"/>
              <a:t>    → ~2,857 FTE TAM at this single function at Travelers (i.e. ~$5M+ of expansion beyond just displacing Cognizant).</a:t>
            </a:r>
          </a:p>
          <a:p>
            <a:endParaRPr sz="1600" dirty="0"/>
          </a:p>
          <a:p>
            <a:pPr marL="0" indent="0">
              <a:buNone/>
            </a:pPr>
            <a:r>
              <a:rPr sz="1600" dirty="0"/>
              <a:t>The pipeline now fires a function</a:t>
            </a:r>
            <a:r>
              <a:rPr lang="en-US" sz="1600" dirty="0"/>
              <a:t> </a:t>
            </a:r>
            <a:r>
              <a:rPr sz="1600" dirty="0"/>
              <a:t>headroom trigger automatically when a competitor is parked in a</a:t>
            </a:r>
            <a:r>
              <a:rPr lang="en-US" sz="1600" dirty="0"/>
              <a:t> </a:t>
            </a:r>
            <a:r>
              <a:rPr sz="1600" dirty="0"/>
              <a:t>high-headroom function. Travelers +2 firings; Liberty Mutual, Swiss Re, AON, Nationwide all gain visibility.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015714-B651-6DDF-83F4-3EEDE7FFA4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400" b="1" dirty="0"/>
              <a:t>WHAT CAME OUT — AND THREE THINGS WE CAUGHT ALONG THE WAY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2A6841-254E-0359-39CD-1BC0A14BEE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sz="1600" dirty="0"/>
              <a:t>Travelers ranked #1 with score 89.3/100. Far ahead of #2 Allstate (64.5).</a:t>
            </a:r>
          </a:p>
          <a:p>
            <a:pPr marL="0" indent="0">
              <a:buNone/>
            </a:pPr>
            <a:r>
              <a:rPr sz="1600" dirty="0"/>
              <a:t>9 different trigger types fired on Travelers simultaneously — all corroborating active</a:t>
            </a:r>
            <a:r>
              <a:rPr lang="en-US" sz="1600" dirty="0"/>
              <a:t> </a:t>
            </a:r>
            <a:r>
              <a:rPr sz="1600" dirty="0"/>
              <a:t>shopping and incumbent friction. The pipeline-generated brief cites the same source rows</a:t>
            </a:r>
            <a:r>
              <a:rPr lang="en-US" sz="1600" dirty="0"/>
              <a:t> </a:t>
            </a:r>
            <a:r>
              <a:rPr sz="1600" dirty="0"/>
              <a:t>as the lead we'd hand-built earlier. Independent validation that the system works.</a:t>
            </a:r>
          </a:p>
          <a:p>
            <a:pPr marL="0" indent="0">
              <a:buNone/>
            </a:pPr>
            <a:r>
              <a:rPr sz="1600" dirty="0"/>
              <a:t>Three other things the pipeline caught:</a:t>
            </a:r>
          </a:p>
          <a:p>
            <a:pPr marL="342900" indent="-342900">
              <a:buFont typeface="+mj-lt"/>
              <a:buAutoNum type="arabicPeriod"/>
            </a:pPr>
            <a:r>
              <a:rPr sz="1600" dirty="0"/>
              <a:t>Three high-NWP Strategic accounts have ZERO competitive intel in the spreadsheets: Allstate (rank #4), AXIS, Amer Family. Either greenfield or a data gap — either way,</a:t>
            </a:r>
            <a:r>
              <a:rPr lang="en-US" sz="1600" dirty="0"/>
              <a:t> </a:t>
            </a:r>
            <a:r>
              <a:rPr sz="1600" dirty="0"/>
              <a:t>that's a first action item.</a:t>
            </a:r>
          </a:p>
          <a:p>
            <a:pPr marL="342900" indent="-342900">
              <a:buFont typeface="+mj-lt"/>
              <a:buAutoNum type="arabicPeriod"/>
            </a:pPr>
            <a:r>
              <a:rPr sz="1600" dirty="0"/>
              <a:t>The same internal Capability Gap spreadsheet existed in 3 versions inside one file.</a:t>
            </a:r>
            <a:r>
              <a:rPr lang="en-US" sz="1600" dirty="0"/>
              <a:t> </a:t>
            </a:r>
            <a:r>
              <a:rPr sz="1600" dirty="0"/>
              <a:t>Pipeline flagged 2 as superseded, safe to delete. ~140 stale rows of free cleanup.</a:t>
            </a:r>
          </a:p>
          <a:p>
            <a:pPr marL="342900" indent="-342900">
              <a:buFont typeface="+mj-lt"/>
              <a:buAutoNum type="arabicPeriod"/>
            </a:pPr>
            <a:r>
              <a:rPr sz="1600" dirty="0"/>
              <a:t>A </a:t>
            </a:r>
            <a:r>
              <a:rPr sz="1600" dirty="0" err="1"/>
              <a:t>NaN</a:t>
            </a:r>
            <a:r>
              <a:rPr sz="1600" dirty="0"/>
              <a:t> bug almost generated 217 false-positive leads (</a:t>
            </a:r>
            <a:r>
              <a:rPr sz="1600" dirty="0" err="1"/>
              <a:t>cost_pressure</a:t>
            </a:r>
            <a:r>
              <a:rPr sz="1600" dirty="0"/>
              <a:t> trigger). The</a:t>
            </a:r>
            <a:r>
              <a:rPr lang="en-US" sz="1600" dirty="0"/>
              <a:t> </a:t>
            </a:r>
            <a:r>
              <a:rPr sz="1600" dirty="0"/>
              <a:t>deterministic + audited pipeline made it obvious — 4-line fix. A black-box LLM</a:t>
            </a:r>
            <a:r>
              <a:rPr lang="en-US" sz="1600" dirty="0"/>
              <a:t> </a:t>
            </a:r>
            <a:r>
              <a:rPr sz="1600" dirty="0"/>
              <a:t>pipeline would have shipped 217 wrong leads silently.</a:t>
            </a:r>
          </a:p>
        </p:txBody>
      </p:sp>
    </p:spTree>
    <p:extLst>
      <p:ext uri="{BB962C8B-B14F-4D97-AF65-F5344CB8AC3E}">
        <p14:creationId xmlns:p14="http://schemas.microsoft.com/office/powerpoint/2010/main" val="21857082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400" b="1" dirty="0"/>
              <a:t>HOW EXL TEAMS USE THIS — NO TERMINAL, JUST ASK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sz="1600" b="0" dirty="0"/>
              <a:t>Built as a Claude Code Skill — tam-leads. Lives in .</a:t>
            </a:r>
            <a:r>
              <a:rPr sz="1600" b="0" dirty="0" err="1"/>
              <a:t>claude</a:t>
            </a:r>
            <a:r>
              <a:rPr sz="1600" b="0" dirty="0"/>
              <a:t>/skills/ of this repo.</a:t>
            </a:r>
            <a:r>
              <a:rPr lang="en-US" sz="1600" b="0" dirty="0"/>
              <a:t> </a:t>
            </a:r>
            <a:r>
              <a:rPr sz="1600" b="0" dirty="0"/>
              <a:t>Any EXL teammate with a Claude subscription installs it in seconds (just clone the repo).</a:t>
            </a:r>
          </a:p>
          <a:p>
            <a:pPr marL="0" indent="0">
              <a:buNone/>
            </a:pPr>
            <a:r>
              <a:rPr sz="1600" b="0" dirty="0"/>
              <a:t>Then they type questions in chat. Claude reads the skill, runs the right command,</a:t>
            </a:r>
            <a:r>
              <a:rPr lang="en-US" sz="1600" b="0" dirty="0"/>
              <a:t> </a:t>
            </a:r>
            <a:r>
              <a:rPr sz="1600" b="0" dirty="0"/>
              <a:t>formats the output. No Python. No terminal. No training. Just chat.</a:t>
            </a:r>
          </a:p>
          <a:p>
            <a:pPr marL="0" indent="0">
              <a:buNone/>
            </a:pPr>
            <a:endParaRPr lang="en-US" sz="1600" b="0" dirty="0"/>
          </a:p>
          <a:p>
            <a:pPr marL="0" indent="0">
              <a:buNone/>
            </a:pPr>
            <a:r>
              <a:rPr sz="1600" b="0" dirty="0"/>
              <a:t>Examples (the four I'll demo live in 2 minutes):</a:t>
            </a:r>
          </a:p>
          <a:p>
            <a:r>
              <a:rPr sz="1600" b="0" dirty="0"/>
              <a:t>List all the accounts we have</a:t>
            </a:r>
          </a:p>
          <a:p>
            <a:r>
              <a:rPr sz="1600" b="0" dirty="0"/>
              <a:t> Give me a full brief on Travelers</a:t>
            </a:r>
          </a:p>
          <a:p>
            <a:r>
              <a:rPr sz="1600" b="0" dirty="0"/>
              <a:t>Where's the biggest white space across the portfolio?</a:t>
            </a:r>
          </a:p>
          <a:p>
            <a:r>
              <a:rPr sz="1600" b="0" dirty="0"/>
              <a:t>What about Allstate — what's going on there?</a:t>
            </a:r>
          </a:p>
          <a:p>
            <a:pPr marL="0" indent="0">
              <a:buNone/>
            </a:pPr>
            <a:endParaRPr sz="1600" b="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400" b="1" dirty="0"/>
              <a:t>WHAT'S NEXT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sz="1600" b="1" dirty="0"/>
              <a:t>V2</a:t>
            </a:r>
            <a:r>
              <a:rPr lang="en-US" sz="1600" dirty="0"/>
              <a:t>. </a:t>
            </a:r>
            <a:r>
              <a:rPr sz="1600" dirty="0"/>
              <a:t>Publish as a Claude Code plugin.</a:t>
            </a:r>
            <a:r>
              <a:rPr lang="en-US" sz="1600" dirty="0"/>
              <a:t> </a:t>
            </a:r>
            <a:r>
              <a:rPr sz="1600" dirty="0"/>
              <a:t>Any EXL teammate installs in 10 seconds. No git clone, no setup.</a:t>
            </a:r>
          </a:p>
          <a:p>
            <a:pPr marL="0" indent="0">
              <a:buNone/>
            </a:pPr>
            <a:r>
              <a:rPr sz="1600" b="1" dirty="0"/>
              <a:t>V3</a:t>
            </a:r>
            <a:r>
              <a:rPr lang="en-US" sz="1600" dirty="0"/>
              <a:t>. </a:t>
            </a:r>
            <a:r>
              <a:rPr sz="1600" dirty="0"/>
              <a:t>Pull in external data sources.</a:t>
            </a:r>
          </a:p>
          <a:p>
            <a:r>
              <a:rPr sz="1600" dirty="0"/>
              <a:t>    SEC EDGAR (free public filings) </a:t>
            </a:r>
            <a:r>
              <a:rPr lang="en-US" sz="1600" dirty="0"/>
              <a:t>- </a:t>
            </a:r>
            <a:r>
              <a:rPr sz="1600" dirty="0"/>
              <a:t>fills data gaps at Allstate, AXIS, Amer Family</a:t>
            </a:r>
          </a:p>
          <a:p>
            <a:r>
              <a:rPr sz="1600" dirty="0"/>
              <a:t>    Earnings call transcripts </a:t>
            </a:r>
            <a:r>
              <a:rPr lang="en-US" sz="1600" dirty="0"/>
              <a:t>- </a:t>
            </a:r>
            <a:r>
              <a:rPr sz="1600" dirty="0" err="1"/>
              <a:t>CxO</a:t>
            </a:r>
            <a:r>
              <a:rPr sz="1600" dirty="0"/>
              <a:t> priorities replacing 2020 VOC data</a:t>
            </a:r>
          </a:p>
          <a:p>
            <a:r>
              <a:rPr sz="1600" dirty="0"/>
              <a:t>    NAIC quarterly filings (free</a:t>
            </a:r>
            <a:r>
              <a:rPr lang="en-US" sz="1600" dirty="0"/>
              <a:t>) - </a:t>
            </a:r>
            <a:r>
              <a:rPr sz="1600" dirty="0"/>
              <a:t>combined ratio + premium trends</a:t>
            </a:r>
          </a:p>
          <a:p>
            <a:r>
              <a:rPr sz="1600" dirty="0"/>
              <a:t>    AM Best ratings </a:t>
            </a:r>
            <a:r>
              <a:rPr lang="en-US" sz="1600" dirty="0"/>
              <a:t>- </a:t>
            </a:r>
            <a:r>
              <a:rPr sz="1600" dirty="0"/>
              <a:t>financial strength signals</a:t>
            </a:r>
          </a:p>
          <a:p>
            <a:pPr marL="0" indent="0">
              <a:buNone/>
            </a:pPr>
            <a:r>
              <a:rPr sz="1600" b="1" dirty="0"/>
              <a:t>V</a:t>
            </a:r>
            <a:r>
              <a:rPr lang="en-US" sz="1600" b="1" dirty="0"/>
              <a:t>4</a:t>
            </a:r>
            <a:r>
              <a:rPr lang="en-US" sz="1600" dirty="0"/>
              <a:t>. </a:t>
            </a:r>
            <a:r>
              <a:rPr sz="1600" dirty="0"/>
              <a:t>Score-weight calibration. After first 10–20 leads convert to wins or losses,</a:t>
            </a:r>
            <a:r>
              <a:rPr lang="en-US" sz="1600" dirty="0"/>
              <a:t> </a:t>
            </a:r>
            <a:r>
              <a:rPr sz="1600" dirty="0"/>
              <a:t>tune the 4-component scoring formula (account fit / signal / solution / relationship).</a:t>
            </a:r>
          </a:p>
          <a:p>
            <a:pPr marL="0" indent="0">
              <a:buNone/>
            </a:pPr>
            <a:endParaRPr lang="en-US" sz="1600" b="1" dirty="0"/>
          </a:p>
          <a:p>
            <a:pPr marL="0" indent="0">
              <a:buNone/>
            </a:pPr>
            <a:r>
              <a:rPr sz="1600" b="1" dirty="0"/>
              <a:t>Asks for this room:</a:t>
            </a:r>
          </a:p>
          <a:p>
            <a:r>
              <a:rPr sz="1600" dirty="0"/>
              <a:t>  1. Sales/BD team to validate the top 10 leads look credible.</a:t>
            </a:r>
          </a:p>
          <a:p>
            <a:r>
              <a:rPr sz="1600" dirty="0"/>
              <a:t>  2. Approval for AWS Phase 1 (~$23/month) to start the deployment story.</a:t>
            </a:r>
          </a:p>
          <a:p>
            <a:r>
              <a:rPr sz="1600" dirty="0"/>
              <a:t>  3. Gaps in EXL product mapping — what did we miss in the vocabulary?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2398B7CD-11EA-287C-F24E-1231A35974B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33188893"/>
              </p:ext>
            </p:extLst>
          </p:nvPr>
        </p:nvGraphicFramePr>
        <p:xfrm>
          <a:off x="643467" y="1574945"/>
          <a:ext cx="10905066" cy="3224181"/>
        </p:xfrm>
        <a:graphic>
          <a:graphicData uri="http://schemas.openxmlformats.org/drawingml/2006/table">
            <a:tbl>
              <a:tblPr>
                <a:tableStyleId>{8EC20E35-A176-4012-BC5E-935CFFF8708E}</a:tableStyleId>
              </a:tblPr>
              <a:tblGrid>
                <a:gridCol w="3495396">
                  <a:extLst>
                    <a:ext uri="{9D8B030D-6E8A-4147-A177-3AD203B41FA5}">
                      <a16:colId xmlns:a16="http://schemas.microsoft.com/office/drawing/2014/main" val="782070419"/>
                    </a:ext>
                  </a:extLst>
                </a:gridCol>
                <a:gridCol w="7409670">
                  <a:extLst>
                    <a:ext uri="{9D8B030D-6E8A-4147-A177-3AD203B41FA5}">
                      <a16:colId xmlns:a16="http://schemas.microsoft.com/office/drawing/2014/main" val="740745633"/>
                    </a:ext>
                  </a:extLst>
                </a:gridCol>
              </a:tblGrid>
              <a:tr h="436628">
                <a:tc>
                  <a:txBody>
                    <a:bodyPr/>
                    <a:lstStyle/>
                    <a:p>
                      <a:r>
                        <a:rPr lang="en-US" sz="1600" b="1" dirty="0"/>
                        <a:t>FILE</a:t>
                      </a:r>
                    </a:p>
                  </a:txBody>
                  <a:tcPr marL="57870" marR="57870" marT="57870" marB="5787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 dirty="0"/>
                        <a:t>DESCRIPTION</a:t>
                      </a:r>
                    </a:p>
                  </a:txBody>
                  <a:tcPr marL="57870" marR="57870" marT="57870" marB="5787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64234074"/>
                  </a:ext>
                </a:extLst>
              </a:tr>
              <a:tr h="503027">
                <a:tc>
                  <a:txBody>
                    <a:bodyPr/>
                    <a:lstStyle/>
                    <a:p>
                      <a:r>
                        <a:rPr sz="1600"/>
                        <a:t>pipeline/leads/01_travelers_group.md</a:t>
                      </a:r>
                    </a:p>
                  </a:txBody>
                  <a:tcPr marL="57870" marR="57870" marT="57870" marB="5787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600"/>
                        <a:t>Travelers sales brief — 89.3/100, score breakdown, 17 triggers cited to source rows, EXL anchor products (XTRAKTO.AI + EXELIA.AI + NerveHub + Paymentor) with outcome metrics, CxO map, pitch hook, risks, next 3 steps.</a:t>
                      </a:r>
                    </a:p>
                  </a:txBody>
                  <a:tcPr marL="57870" marR="57870" marT="57870" marB="5787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47932768"/>
                  </a:ext>
                </a:extLst>
              </a:tr>
              <a:tr h="977293">
                <a:tc>
                  <a:txBody>
                    <a:bodyPr/>
                    <a:lstStyle/>
                    <a:p>
                      <a:r>
                        <a:rPr sz="1600"/>
                        <a:t>pipeline/WHITESPACE_MAP.xlsx</a:t>
                      </a:r>
                    </a:p>
                  </a:txBody>
                  <a:tcPr marL="57870" marR="57870" marT="57870" marB="5787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600"/>
                        <a:t>7-sheet workbook — Master Heatmap with EXL's 5-area P&amp;C taxonomy, Partnering Matrix benchmarks sorted by headroom, White Space Ranking, Capability Gaps.</a:t>
                      </a:r>
                    </a:p>
                  </a:txBody>
                  <a:tcPr marL="57870" marR="57870" marT="57870" marB="5787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84898166"/>
                  </a:ext>
                </a:extLst>
              </a:tr>
              <a:tr h="299850">
                <a:tc>
                  <a:txBody>
                    <a:bodyPr/>
                    <a:lstStyle/>
                    <a:p>
                      <a:r>
                        <a:rPr sz="1600"/>
                        <a:t>pipeline/LEADS_DIGEST.md</a:t>
                      </a:r>
                    </a:p>
                  </a:txBody>
                  <a:tcPr marL="57870" marR="57870" marT="57870" marB="5787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600"/>
                        <a:t>Top 10 ranked accounts with click-through links to each polished brief.</a:t>
                      </a:r>
                    </a:p>
                  </a:txBody>
                  <a:tcPr marL="57870" marR="57870" marT="57870" marB="5787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4783962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sz="1600"/>
                        <a:t>pipeline/COVERAGE_AUDIT.md</a:t>
                      </a:r>
                    </a:p>
                  </a:txBody>
                  <a:tcPr marL="57870" marR="57870" marT="57870" marB="5787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600" dirty="0"/>
                        <a:t>PASS verdict — every source row reconciled, 100% datetime coverage on all 1,076 output rows.</a:t>
                      </a:r>
                    </a:p>
                  </a:txBody>
                  <a:tcPr marL="57870" marR="57870" marT="57870" marB="5787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98301941"/>
                  </a:ext>
                </a:extLst>
              </a:tr>
            </a:tbl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358051A3-61F4-DD95-3508-8896DAFFD4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sz="2400" b="1" dirty="0"/>
              <a:t>FILES YOU CAN OPEN RIGHT NOW</a:t>
            </a:r>
          </a:p>
        </p:txBody>
      </p:sp>
    </p:spTree>
    <p:extLst>
      <p:ext uri="{BB962C8B-B14F-4D97-AF65-F5344CB8AC3E}">
        <p14:creationId xmlns:p14="http://schemas.microsoft.com/office/powerpoint/2010/main" val="12013457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156</TotalTime>
  <Words>1494</Words>
  <Application>Microsoft Macintosh PowerPoint</Application>
  <PresentationFormat>Widescreen</PresentationFormat>
  <Paragraphs>99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Aptos</vt:lpstr>
      <vt:lpstr>Aptos Display</vt:lpstr>
      <vt:lpstr>Arial</vt:lpstr>
      <vt:lpstr>Office Theme</vt:lpstr>
      <vt:lpstr>TAM</vt:lpstr>
      <vt:lpstr>WHAT THIS PROJECT IS</vt:lpstr>
      <vt:lpstr>WHAT A SINGLE PIECE OF INTEL LOOKED LIKE</vt:lpstr>
      <vt:lpstr>Seven stages — plus EXL's vocabulary</vt:lpstr>
      <vt:lpstr>WHAT GOOD LOOKS LIKE — THE TRAVELERS BRIEF</vt:lpstr>
      <vt:lpstr>THE DISCOVERY — WHERE THE REAL TAM IS HIDING</vt:lpstr>
      <vt:lpstr>WHAT CAME OUT — AND THREE THINGS WE CAUGHT ALONG THE WAY</vt:lpstr>
      <vt:lpstr>HOW EXL TEAMS USE THIS — NO TERMINAL, JUST ASK</vt:lpstr>
      <vt:lpstr>WHAT'S NEXT</vt:lpstr>
      <vt:lpstr>FILES YOU CAN OPEN RIGHT NOW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Bhavya Jain</dc:creator>
  <cp:lastModifiedBy>Bhavya Jain</cp:lastModifiedBy>
  <cp:revision>1</cp:revision>
  <dcterms:created xsi:type="dcterms:W3CDTF">2026-05-27T04:57:59Z</dcterms:created>
  <dcterms:modified xsi:type="dcterms:W3CDTF">2026-05-27T07:44:59Z</dcterms:modified>
</cp:coreProperties>
</file>
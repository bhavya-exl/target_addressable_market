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78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5F164-2EE2-C3B0-3833-F344EC42D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28A00-C597-8CB9-9684-67F5489B3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03180-0CA1-EFC4-06FE-D29208CAB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EE896-540B-A929-B1A9-8A1DA64F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39A7C-F12A-33B1-2C08-7DCD2361A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92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64D49-D709-6BBC-DEE6-F6EC57E70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2A491-57D3-4B80-AB55-0727B0667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9B24F-C787-2EE1-0C91-3A3D8DA2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4317D-46C0-E034-9F15-63F2D88ED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83E83-3A9E-87A8-4BFA-7893786E9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4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485CB-A792-98DC-4E50-A341F47CD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D4CDB-D242-68F1-360C-4A7D44577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57183-0E9C-C82D-1AE0-215468CB3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FD5BB-92F6-DC90-FE39-E994EB6E2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B31E8-C2ED-2F9F-FB75-DE1366D73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1501A-7B64-7F2D-EC37-2CC33C7AB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18FAE-C058-1E7A-2150-F19A3EAA99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9D933-A639-9D0A-3393-824F693B7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735DE-201D-ACFC-AD2B-E3083C212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5DAD1-9401-F2FD-84D6-C3182638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6F95A-564E-9407-E5EC-275E3E1A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5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3B29B-C0BD-A74A-F123-AE7C68FAA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6EB9A-D5F4-5EA2-9D79-A6B694725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3EAFE-BFD8-96B1-651B-0E4999768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B1617-9D1A-6F42-0CEF-42AD31CD5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B56AEB-E8E5-E635-A39B-6293CE9B6E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27B3B3-D75E-EE33-FD10-48D175DF7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C090FF-443A-4752-B97A-1BE3A54D8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E1D891-8D84-2F7D-448C-69CBC945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479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DCFE-E9D3-0491-61C8-56616C29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9000A5-653B-E740-6733-810C5742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04DC2-E7D0-05B5-CC88-7B1E58593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C791C-FBFB-A5E7-DAA1-837496C0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DC256D-6BA7-4900-B317-CDA0D77D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CB55F-C3E3-7ED7-2811-2E99C945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D1D83-E765-354D-2671-4011E580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8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2B2A5-450F-91AC-6FA2-8519156C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2A86F-0A58-BDA9-9439-E42CB2269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33BBC-CAF8-EC26-B12D-18DDE27F8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81AAF-3BB1-1255-FFED-B2D625A72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7FFD4-70DA-F57F-296C-CCCA7FF7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F7494-ED49-D716-3962-5A30242C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94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5FEF-9AB7-E0BA-A045-E6F5B3963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32FE31-F9A2-AC5B-A2FB-FABB99702F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3E37F-E988-FA0C-9504-54529DBB9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637FF-81DF-65C1-7533-40CA4E64B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88A3F-DC90-A766-7BE5-49927427F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27D30-7437-A0EB-8D13-0DB87BAAD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0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9549-9869-DAB9-9630-0DD26DD5E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844311-058E-805D-F042-D0CB00239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EEBE7-A17C-1AF6-FB24-B1BF39C2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50E93-7143-675F-CA9B-AC8A6AAF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1D078-A5DC-5ABE-1C4E-168DD9B2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500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1F25FD-D469-A33A-76BE-497B51B9B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D4671-E492-D2EE-03E1-EB2FD87E8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E8796-7880-01C6-10C7-3D0708155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10719-43BE-63DE-229E-E5028A13D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843A3-512D-8B02-5427-CB92216D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2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850E8-8F77-764E-4FBC-D6559413E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041A3-7FC5-DDA8-033F-C929AEA8D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33593-F243-4FD2-AA94-CB662D0DF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64864-E3EB-A54A-A40D-CEB528221741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CA7EF-DAF7-9FA5-7CA8-5FF40F24B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A0435-D1B9-2CEE-6BA6-F2321AA4C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17979-4DBB-B64F-A9EE-38BC2054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58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BF03D-236A-C7E4-7D72-89F0E0A457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TAM</a:t>
            </a:r>
          </a:p>
        </p:txBody>
      </p:sp>
    </p:spTree>
    <p:extLst>
      <p:ext uri="{BB962C8B-B14F-4D97-AF65-F5344CB8AC3E}">
        <p14:creationId xmlns:p14="http://schemas.microsoft.com/office/powerpoint/2010/main" val="6945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C34E4-C179-57F8-2512-F6A5F462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project 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5FEEE-06DE-B2C2-47F2-DA9CB6BC4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Quick orientation: EXL does back-office work for insurance companies (claims processing, underwriting paperwork, </a:t>
            </a:r>
            <a:r>
              <a:rPr lang="en-US" sz="1800" dirty="0" err="1"/>
              <a:t>etc</a:t>
            </a:r>
            <a:r>
              <a:rPr lang="en-US" sz="1800" dirty="0"/>
              <a:t>). Their competitors are firms like Cognizant, Genpact, WNS — big outsourcing names.</a:t>
            </a:r>
          </a:p>
          <a:p>
            <a:r>
              <a:rPr lang="en-US" sz="1800" dirty="0"/>
              <a:t>We have 5 spreadsheets that EXL's strategy team uses to track what's going on in their market — who their customers are, which competitor is parked at each customer, what those customers' executives have publicly said, and so on.</a:t>
            </a:r>
          </a:p>
          <a:p>
            <a:r>
              <a:rPr lang="en-US" sz="1800" dirty="0"/>
              <a:t>The mental model: imagine you're building a competitive-intel + lead-gen system for AWS's enterprise sales team. You'd want to know things like </a:t>
            </a:r>
            <a:r>
              <a:rPr lang="en-US" sz="1800" i="1" dirty="0"/>
              <a:t>"Which AWS customers have an Azure contract expiring in 6 months and have been making noise about Azure being expensive?"</a:t>
            </a:r>
            <a:r>
              <a:rPr lang="en-US" sz="1800" dirty="0"/>
              <a:t> That's exactly the same shape — we just built it for the insurance-services market instead of cloud.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2954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40564-D397-2C79-073C-4E6BD9C6C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a single piece of intel looked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D4F98-2723-A694-BFE1-3182AAF22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One row from one of the 5 spreadsheets:</a:t>
            </a:r>
          </a:p>
          <a:p>
            <a:pPr lvl="1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Customer: Travelers — one of the top-10 US insurance companies, $27B in premiums</a:t>
            </a:r>
          </a:p>
          <a:p>
            <a:pPr lvl="1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The competitor: Cognizant — a giant IT services firm (~350K employees globally)</a:t>
            </a:r>
          </a:p>
          <a:p>
            <a:pPr lvl="1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Contract status: Up for renewal in less than 6 months</a:t>
            </a:r>
          </a:p>
          <a:p>
            <a:pPr lvl="1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Their footprint: 450 people doing claims processing for Travelers</a:t>
            </a:r>
          </a:p>
          <a:p>
            <a:pPr lvl="1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Internal note: "They're shopping around. Our sales lead has met their CIO."</a:t>
            </a:r>
          </a:p>
          <a:p>
            <a:pPr marL="0" indent="0">
              <a:buNone/>
            </a:pPr>
            <a:r>
              <a:rPr lang="en-US" sz="1800" dirty="0"/>
              <a:t>Translation: a household-name insurance company is about to re-bid a ~450-person contract. The incumbent (Cognizant) is in trouble. EXL has a foot in the door with the customer's CIO. That's a hot lead.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But that fact was buried alongside ~1,860 other rows, scattered across 31 sheets in 5 separate spreadsheets, none of which talked to each other. The CIO's name was in a different sheet. The customer's stated cost-cutting priorities were in yet another sheet. The fact that two other competitors at the same customer were also being let go — different file entirely.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92752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28960-CD1D-464A-E5CD-EA013D1FA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Six 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3DEBC-85EE-F22C-22EC-19DF379C1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dirty="0"/>
              <a:t>Read everything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Clean up duplicate names. Collapsed 30+ name variants down to canonical names.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Build one profile per customer. Pull every fact about each customer from all 5 files into one row — financial size, executives, competitor presence, stated priorities, EXL's history with them.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Run buying-signal detection. 13 rules, each looking for a specific kind of opportunity. Examples in plain English:</a:t>
            </a:r>
          </a:p>
          <a:p>
            <a:pPr lvl="1"/>
            <a:r>
              <a:rPr lang="en-US" sz="2300" dirty="0"/>
              <a:t>"Is the incumbent's contract about to expire?"</a:t>
            </a:r>
          </a:p>
          <a:p>
            <a:pPr lvl="1"/>
            <a:r>
              <a:rPr lang="en-US" sz="2300" dirty="0"/>
              <a:t>"Is the customer dropping hints they're unhappy?" (looks for phrases like "shopping around" in the notes)</a:t>
            </a:r>
          </a:p>
          <a:p>
            <a:pPr lvl="1"/>
            <a:r>
              <a:rPr lang="en-US" sz="2300" dirty="0"/>
              <a:t>"Has the customer publicly said they want to cut costs in an area where EXL has a product?"</a:t>
            </a:r>
          </a:p>
          <a:p>
            <a:pPr lvl="1"/>
            <a:r>
              <a:rPr lang="en-US" sz="2300" dirty="0"/>
              <a:t>"Is this a strategically important customer where EXL has weirdly low presence?"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Score each customer 0–100. Combine signal count + customer size/importance + product fit + how warm the relationship is. Weighted formula, tunable.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Write the sales brief. For the top 20 customers, generate a one-pager: score breakdown, every signal cited to a specific spreadsheet row, list of executives to approach, suggested pitch, risks to watch out for, owner-assigned next actions.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50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15714-B651-6DDF-83F4-3EEDE7FFA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came out — the punchline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A6841-254E-0359-39CD-1BC0A14BE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Travelers ranked #1 with score 89.5/100. Far ahead of #2 (Allstate at 64.5). Why? Eight different buying signals fired on Travelers simultaneously — all corroborating that they're actively shopping and the incumbent (Cognizant) is in trouble.</a:t>
            </a:r>
          </a:p>
          <a:p>
            <a:r>
              <a:rPr lang="en-US" sz="1600" dirty="0"/>
              <a:t>The pipeline-generated brief reads basically the same as the one the LLM-wrote earlier, citing the exact same spreadsheet rows. That's the validation — the system independently arrived at the same conclusion we did manually.</a:t>
            </a:r>
          </a:p>
          <a:p>
            <a:r>
              <a:rPr lang="en-US" sz="1600" dirty="0"/>
              <a:t>Three big, strategically important customers have zero competitive intel on file. Allstate (a household-name US auto/home insurer, the country's #4 by size), AXIS, and Amer Family. Their rows in the heatmap are completely blank — no documented competitor presence in any function. This means one of two things: either huge wide-open opportunity, or the EXL team has never collected intel on them. Either way, that's the first action item — figure out which.</a:t>
            </a:r>
          </a:p>
          <a:p>
            <a:r>
              <a:rPr lang="en-US" sz="1600" dirty="0"/>
              <a:t>The same internal spreadsheet existed in 3 different versions inside one file. Like finding three copies of the same Google Doc, slightly modified, all in the same folder. The system identified the most-evolved version as canonical and flagged the other two as safe-to-delete. Free cleanup.</a:t>
            </a:r>
          </a:p>
        </p:txBody>
      </p:sp>
    </p:spTree>
    <p:extLst>
      <p:ext uri="{BB962C8B-B14F-4D97-AF65-F5344CB8AC3E}">
        <p14:creationId xmlns:p14="http://schemas.microsoft.com/office/powerpoint/2010/main" val="2185708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398B7CD-11EA-287C-F24E-1231A35974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3851633"/>
              </p:ext>
            </p:extLst>
          </p:nvPr>
        </p:nvGraphicFramePr>
        <p:xfrm>
          <a:off x="643467" y="1574945"/>
          <a:ext cx="10905066" cy="2850308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569304">
                  <a:extLst>
                    <a:ext uri="{9D8B030D-6E8A-4147-A177-3AD203B41FA5}">
                      <a16:colId xmlns:a16="http://schemas.microsoft.com/office/drawing/2014/main" val="782070419"/>
                    </a:ext>
                  </a:extLst>
                </a:gridCol>
                <a:gridCol w="7335762">
                  <a:extLst>
                    <a:ext uri="{9D8B030D-6E8A-4147-A177-3AD203B41FA5}">
                      <a16:colId xmlns:a16="http://schemas.microsoft.com/office/drawing/2014/main" val="740745633"/>
                    </a:ext>
                  </a:extLst>
                </a:gridCol>
              </a:tblGrid>
              <a:tr h="43662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dirty="0">
                          <a:effectLst/>
                        </a:rPr>
                        <a:t>File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dirty="0">
                          <a:effectLst/>
                        </a:rPr>
                        <a:t>What you'd see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234074"/>
                  </a:ext>
                </a:extLst>
              </a:tr>
              <a:tr h="50302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solidFill>
                            <a:srgbClr val="0099FF"/>
                          </a:solidFill>
                          <a:effectLst/>
                        </a:rPr>
                        <a:t>pipeline/leads/01_travelers_group.md</a:t>
                      </a:r>
                      <a:endParaRPr lang="en-US" sz="1600" dirty="0">
                        <a:effectLst/>
                      </a:endParaRP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The Travelers sales brief — every claim cited to a specific source-row (e.g. "Cognizant has 450 people in their claims org, F5 / Competitor Analysis / Row 8")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7932768"/>
                  </a:ext>
                </a:extLst>
              </a:tr>
              <a:tr h="97729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solidFill>
                            <a:srgbClr val="0099FF"/>
                          </a:solidFill>
                          <a:effectLst/>
                        </a:rPr>
                        <a:t>pipeline/</a:t>
                      </a:r>
                      <a:r>
                        <a:rPr lang="en-US" sz="1600" dirty="0" err="1">
                          <a:solidFill>
                            <a:srgbClr val="0099FF"/>
                          </a:solidFill>
                          <a:effectLst/>
                        </a:rPr>
                        <a:t>WHITESPACE_MAP.xlsx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A color-coded grid: customers down the left, business functions across the top. Travelers' row glows dark red across most functions (competitor entrenched + active friction). Allstate's row is completely white (no data). At-a-glance strategic view.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898166"/>
                  </a:ext>
                </a:extLst>
              </a:tr>
              <a:tr h="299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solidFill>
                            <a:srgbClr val="0099FF"/>
                          </a:solidFill>
                          <a:effectLst/>
                        </a:rPr>
                        <a:t>pipeline/LEADS_DIGEST.md</a:t>
                      </a:r>
                      <a:endParaRPr lang="en-US" sz="1600">
                        <a:effectLst/>
                      </a:endParaRP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The top-10 list, with links to each lead brief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839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solidFill>
                            <a:srgbClr val="0099FF"/>
                          </a:solidFill>
                          <a:effectLst/>
                        </a:rPr>
                        <a:t>pipeline/</a:t>
                      </a:r>
                      <a:r>
                        <a:rPr lang="en-US" sz="1600" dirty="0" err="1">
                          <a:solidFill>
                            <a:srgbClr val="0099FF"/>
                          </a:solidFill>
                          <a:effectLst/>
                        </a:rPr>
                        <a:t>COVERAGE_AUDIT.md</a:t>
                      </a:r>
                      <a:endParaRPr lang="en-US" sz="1600" dirty="0">
                        <a:effectLst/>
                      </a:endParaRP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The "every row accounted for" proof, with a PASS verdict</a:t>
                      </a:r>
                    </a:p>
                  </a:txBody>
                  <a:tcPr marL="57870" marR="57870" marT="57870" marB="57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301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1345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922</Words>
  <Application>Microsoft Macintosh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TAM</vt:lpstr>
      <vt:lpstr>What this project is</vt:lpstr>
      <vt:lpstr>What a single piece of intel looked like</vt:lpstr>
      <vt:lpstr>Six stages</vt:lpstr>
      <vt:lpstr>What came out — the punchline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Jain</dc:creator>
  <cp:lastModifiedBy>Bhavya Jain</cp:lastModifiedBy>
  <cp:revision>1</cp:revision>
  <dcterms:created xsi:type="dcterms:W3CDTF">2026-05-27T04:57:59Z</dcterms:created>
  <dcterms:modified xsi:type="dcterms:W3CDTF">2026-05-27T07:20:12Z</dcterms:modified>
</cp:coreProperties>
</file>